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1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114800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3657600"/>
            <a:ext cx="128016" cy="100584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4" name="Shape 2"/>
          <p:cNvSpPr/>
          <p:nvPr/>
        </p:nvSpPr>
        <p:spPr>
          <a:xfrm>
            <a:off x="9290304" y="3017520"/>
            <a:ext cx="128016" cy="164592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5" name="Shape 3"/>
          <p:cNvSpPr/>
          <p:nvPr/>
        </p:nvSpPr>
        <p:spPr>
          <a:xfrm>
            <a:off x="9546336" y="356616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9802368" y="2468880"/>
            <a:ext cx="128016" cy="219456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3291840"/>
            <a:ext cx="128016" cy="137160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2834640"/>
            <a:ext cx="128016" cy="18288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4" y="384048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826496" y="3200400"/>
            <a:ext cx="128016" cy="146304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11" name="Shape 9"/>
          <p:cNvSpPr/>
          <p:nvPr/>
        </p:nvSpPr>
        <p:spPr>
          <a:xfrm>
            <a:off x="11082528" y="374904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0" y="2651760"/>
            <a:ext cx="128016" cy="201168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94592" y="3474720"/>
            <a:ext cx="128016" cy="1188720"/>
          </a:xfrm>
          <a:prstGeom prst="roundRect">
            <a:avLst>
              <a:gd name="adj" fmla="val 50000"/>
            </a:avLst>
          </a:prstGeom>
          <a:solidFill>
            <a:srgbClr val="2A3341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50624" y="4023360"/>
            <a:ext cx="128016" cy="6400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ln w="12700">
            <a:solidFill>
              <a:srgbClr val="2A33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960120"/>
            <a:ext cx="1188720" cy="1188720"/>
          </a:xfrm>
          <a:prstGeom prst="ellipse">
            <a:avLst/>
          </a:prstGeom>
          <a:ln w="12700">
            <a:solidFill>
              <a:srgbClr val="2A33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1234440"/>
            <a:ext cx="640080" cy="640080"/>
          </a:xfrm>
          <a:prstGeom prst="ellipse">
            <a:avLst/>
          </a:prstGeom>
          <a:solidFill>
            <a:srgbClr val="5C4622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AUTOMATION  ·  VOICE UX  ·  ON-DEVICE PRIVACY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</a:t>
            </a:r>
            <a:endParaRPr lang="en-US" sz="80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privacy-first voice dashboard for the smart home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C3A33"/>
          </a:solidFill>
          <a:ln w="12700">
            <a:solidFill>
              <a:srgbClr val="2B5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43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 ·  FUNCTIONAL PROTOTYPE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5120640" cy="0"/>
          </a:xfrm>
          <a:prstGeom prst="line">
            <a:avLst/>
          </a:prstGeom>
          <a:noFill/>
          <a:ln w="12700">
            <a:solidFill>
              <a:srgbClr val="2A3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48309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Twinkle Soni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Kashish Yadav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homes talk back — but never show their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execute commands on faith. When they mishear, misfire, or silently do nothing, the only feedback is a beep — and every raw utterance is typically shipped to a cloud server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  <a:effectLst>
            <a:outerShdw blurRad="127000" dist="38100" dir="5400000" algn="bl" rotWithShape="0">
              <a:srgbClr val="8A7F6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B85A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12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confirmation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3867912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tell what a command was understood as until the light does (or doesn't) turn on — there's no readable intermediate step.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  <a:effectLst>
            <a:outerShdw blurRad="127000" dist="38100" dir="5400000" algn="bl" rotWithShape="0">
              <a:srgbClr val="8A7F6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6517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processing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09160" y="3867912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commercial assistants route raw audio off-device by default, raising real privacy concerns for something inside the home.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  <a:effectLst>
            <a:outerShdw blurRad="127000" dist="38100" dir="5400000" algn="bl" rotWithShape="0">
              <a:srgbClr val="8A7F6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65176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845820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interfaces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3867912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ships its own app; there's no single, unified, glanceable dashboard that reflects what the whole home is doing right now.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glanceable dashboard, everything processed at home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 listens for a command, parses it into a structured intent using a fully local NLU engine, and instantly renders the result — the parsed intent, its confidence, and the live device state — in one screen. No audio or command text ever leaves the device.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4FD1A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1729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feedback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renders a parse card: intent, device, room, value and a confidence score — in under a second.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4FD1A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330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4531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intent parsing and device-state logic all run in-browser / on-device — zero network calls for the core loop.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4FD1A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932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control surface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4132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and device sits on one dashboard instead of being scattered across vendor apps.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822960"/>
            <a:ext cx="3931920" cy="5303520"/>
          </a:xfrm>
          <a:prstGeom prst="roundRect">
            <a:avLst>
              <a:gd name="adj" fmla="val 3256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THIS DEVICE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60020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6002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1600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input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22219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478024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247802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4780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speech-to-text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3099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355848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35584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58200" y="33558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intent parser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63840" y="39776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0" y="4233672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23367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2336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8554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0" y="5111496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511149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511149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 + device update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TARGET USERS &amp;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households that want control, not a black box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938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households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running multiple rooms and devices who want one dashboard instead of five apps.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19293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0168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users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0168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uncomfortable with always-on mics streaming audio to third-party clouds.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92938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&amp; accessibility needs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benefit from large, instant visual confirmation alongside voice, not instead of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51976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8008" y="1929384"/>
            <a:ext cx="457200" cy="457200"/>
          </a:xfrm>
          <a:prstGeom prst="ellipse">
            <a:avLst/>
          </a:prstGeom>
          <a:solidFill>
            <a:srgbClr val="B85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71432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&amp; tinkerers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71432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a lightweight, self-hosted layer over existing smart-home hardware.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10881360" cy="1965960"/>
          </a:xfrm>
          <a:prstGeom prst="roundRect">
            <a:avLst>
              <a:gd name="adj" fmla="val 6512"/>
            </a:avLst>
          </a:prstGeom>
          <a:solidFill>
            <a:srgbClr val="1B2027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WALKTHROUGH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4544568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9pm. Priya says, “dim the living room lights to 30 percent and lock the front door.” Hearth's dashboard instantly shows two parsed commands with 90%+ confidence, updates the Living Room and Front Door cards live, and logs both actions to a session-only history — all without a single request leaving her router.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actually demonstrates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11096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command 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788920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speech recognition with a live waveform indicator, plus a typed-command fallback for reliable demoing.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416552" y="1691640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11096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96" dirty="0"/>
          </a:p>
        </p:txBody>
      </p:sp>
      <p:sp>
        <p:nvSpPr>
          <p:cNvPr id="12" name="Text 10"/>
          <p:cNvSpPr/>
          <p:nvPr/>
        </p:nvSpPr>
        <p:spPr>
          <a:xfrm>
            <a:off x="4636008" y="244144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natural-language parser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2788920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intent engine extracts intent, device, room and value from free-form phrasing entirely in client-side JS.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11096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96" dirty="0"/>
          </a:p>
        </p:txBody>
      </p:sp>
      <p:sp>
        <p:nvSpPr>
          <p:cNvPr id="17" name="Text 15"/>
          <p:cNvSpPr/>
          <p:nvPr/>
        </p:nvSpPr>
        <p:spPr>
          <a:xfrm>
            <a:off x="8412480" y="244144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parse card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instantly shows its recognized intent, target device/room, value and a confidence score — before any device changes.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3465576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685032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96" dirty="0"/>
          </a:p>
        </p:txBody>
      </p:sp>
      <p:sp>
        <p:nvSpPr>
          <p:cNvPr id="22" name="Text 20"/>
          <p:cNvSpPr/>
          <p:nvPr/>
        </p:nvSpPr>
        <p:spPr>
          <a:xfrm>
            <a:off x="859536" y="42153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device 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9536" y="4562856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rooms and devices — lights, thermostat, fan, TV, lock — sit on one grid with real-time state and animated updates.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416552" y="3465576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3685032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96" dirty="0"/>
          </a:p>
        </p:txBody>
      </p:sp>
      <p:sp>
        <p:nvSpPr>
          <p:cNvPr id="27" name="Text 25"/>
          <p:cNvSpPr/>
          <p:nvPr/>
        </p:nvSpPr>
        <p:spPr>
          <a:xfrm>
            <a:off x="4636008" y="42153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history log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36008" y="4562856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timestamped log of every command and its confidence — kept in memory, never written to a server.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93024" y="3465576"/>
            <a:ext cx="3520440" cy="1572768"/>
          </a:xfrm>
          <a:prstGeom prst="roundRect">
            <a:avLst>
              <a:gd name="adj" fmla="val 6977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685032"/>
            <a:ext cx="420624" cy="420624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96" dirty="0"/>
          </a:p>
        </p:txBody>
      </p:sp>
      <p:sp>
        <p:nvSpPr>
          <p:cNvPr id="32" name="Text 30"/>
          <p:cNvSpPr/>
          <p:nvPr/>
        </p:nvSpPr>
        <p:spPr>
          <a:xfrm>
            <a:off x="8412480" y="42153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meter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0" y="4562856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“bytes sent to the cloud” counter stays at zero, making the local-only claim visibly verifiable.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C3A33"/>
          </a:solidFill>
          <a:ln w="12700">
            <a:solidFill>
              <a:srgbClr val="2B5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above runs with the device offline — disconnect the network and Hearth keeps working exactly the same.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lightweight — the intelligence lives client-side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260604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 Speech API (browser ASR)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22960" y="33192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Typed-command fallback UI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822960" y="42336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path: on-device engines (Vosk / whisper.cpp)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B85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965960"/>
            <a:ext cx="2606040" cy="228600"/>
          </a:xfrm>
          <a:prstGeom prst="rect">
            <a:avLst/>
          </a:prstGeom>
          <a:solidFill>
            <a:srgbClr val="B85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4048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rule-based NLU (JavaScript)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657600" y="33192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Intent + entity + confidence scoring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3657600" y="42336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Extensible to a local intent-classification model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965960"/>
            <a:ext cx="2606040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4048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HTML5 / CSS3 dashboard, responsive grid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92240" y="33192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Vanilla JS state manager &amp; live re-render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6492240" y="42336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Session-scoped history (in-memory, no persistence)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914400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1965960"/>
            <a:ext cx="260604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930859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24048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Simulated device layer (this prototype)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9326880" y="33192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path: local hub via MQTT / Matter / Zigbee2MQTT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9326880" y="42336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cloud API calls in the core command loop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spoken word to device state, without leaving the room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3246120"/>
          </a:xfrm>
          <a:prstGeom prst="roundRect">
            <a:avLst>
              <a:gd name="adj" fmla="val 3944"/>
            </a:avLst>
          </a:prstGeom>
          <a:ln w="15875">
            <a:solidFill>
              <a:srgbClr val="4FD1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/ LOCAL-NETWORK BOUNDARY — NOTHING BELOW THIS LINE CROSSES THE INTERNET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304288" y="2331720"/>
            <a:ext cx="252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56662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9814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ASR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(speech-to-text)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129430" y="2331720"/>
            <a:ext cx="252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1805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4957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NLU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parser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954573" y="2331720"/>
            <a:ext cx="252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6947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0099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entities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779715" y="2331720"/>
            <a:ext cx="252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2090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5242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model)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04858" y="2331720"/>
            <a:ext cx="252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57232" y="23317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F2733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0384" y="23317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device action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CHOICE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793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 output (intent, entities, confidence) is rendered on screen the same tick it's computed — the dashboard is a direct view into the parser's state, not a delayed confirmation.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11155680" cy="1051560"/>
          </a:xfrm>
          <a:prstGeom prst="roundRect">
            <a:avLst>
              <a:gd name="adj" fmla="val 10435"/>
            </a:avLst>
          </a:prstGeom>
          <a:solidFill>
            <a:srgbClr val="1C3A33"/>
          </a:solidFill>
          <a:ln w="12700">
            <a:solidFill>
              <a:srgbClr val="2B5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(future scope) is strictly opt-in and out-of-band from the command loop above — the core experience never depends on it.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PROTOTYPE &amp;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working dashboard — not a mockup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8284464" cy="4738551"/>
          </a:xfrm>
          <a:prstGeom prst="roundRect">
            <a:avLst>
              <a:gd name="adj" fmla="val 2316"/>
            </a:avLst>
          </a:prstGeom>
          <a:solidFill>
            <a:srgbClr val="1B2027"/>
          </a:solidFill>
          <a:ln/>
          <a:effectLst>
            <a:outerShdw blurRad="177800" dist="50800" dir="5400000" algn="bl" rotWithShape="0">
              <a:srgbClr val="6B6250">
                <a:alpha val="30000"/>
              </a:srgbClr>
            </a:outerShdw>
          </a:effectLst>
        </p:spPr>
      </p:sp>
      <p:pic>
        <p:nvPicPr>
          <p:cNvPr id="5" name="Image 0" descr="/home/claude/demo-sho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8138160" cy="4592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00684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hearth-prototype.html (submitted alongside this deck) in any modern browser — no install, no server.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006840" y="3063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COMMANDS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06840" y="3337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on the living room lights” · “set the thermostat to 72” · “lock the front door” · “dim the kitchen lights to 40 percent”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0684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LOOK FOR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006840" y="4754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 card and device grid update in the same instant, and the cloud-bytes counter stays at zero throughout.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INNOVATION, IMPACT &amp;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different, and why it holds up at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343400"/>
          </a:xfrm>
          <a:prstGeom prst="roundRect">
            <a:avLst>
              <a:gd name="adj" fmla="val 3636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C3A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36192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24912"/>
            <a:ext cx="73152" cy="73152"/>
          </a:xfrm>
          <a:prstGeom prst="ellipse">
            <a:avLst/>
          </a:prstGeom>
          <a:solidFill>
            <a:srgbClr val="4FD1A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7860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Feedback-first design: the parse result is the primary UI, not an afterthought toast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803904"/>
            <a:ext cx="73152" cy="73152"/>
          </a:xfrm>
          <a:prstGeom prst="ellipse">
            <a:avLst/>
          </a:prstGeom>
          <a:solidFill>
            <a:srgbClr val="4FD1A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576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privacy — a live zero-byte network counter, not just a policy claim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882896"/>
            <a:ext cx="73152" cy="73152"/>
          </a:xfrm>
          <a:prstGeom prst="ellipse">
            <a:avLst/>
          </a:prstGeom>
          <a:solidFill>
            <a:srgbClr val="4FD1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73659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surfaced to the user, not hidden inside the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6552" y="1691640"/>
            <a:ext cx="3520440" cy="4343400"/>
          </a:xfrm>
          <a:prstGeom prst="roundRect">
            <a:avLst>
              <a:gd name="adj" fmla="val 3636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1965960"/>
            <a:ext cx="457200" cy="457200"/>
          </a:xfrm>
          <a:prstGeom prst="ellipse">
            <a:avLst/>
          </a:prstGeom>
          <a:solidFill>
            <a:srgbClr val="5C4622"/>
          </a:solidFill>
          <a:ln/>
        </p:spPr>
      </p:sp>
      <p:sp>
        <p:nvSpPr>
          <p:cNvPr id="16" name="Text 14"/>
          <p:cNvSpPr/>
          <p:nvPr/>
        </p:nvSpPr>
        <p:spPr>
          <a:xfrm>
            <a:off x="46908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12664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90872" y="272491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57860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silent command failures by showing exactly what was understood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380390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6576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privacy barrier to smart-home adoption for cautious households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90872" y="488289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473659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replaces several vendor apps for daily control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3024" y="1691640"/>
            <a:ext cx="3520440" cy="4343400"/>
          </a:xfrm>
          <a:prstGeom prst="roundRect">
            <a:avLst>
              <a:gd name="adj" fmla="val 3636"/>
            </a:avLst>
          </a:prstGeom>
          <a:solidFill>
            <a:srgbClr val="191F29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7344" y="1965960"/>
            <a:ext cx="457200" cy="457200"/>
          </a:xfrm>
          <a:prstGeom prst="ellipse">
            <a:avLst/>
          </a:prstGeom>
          <a:solidFill>
            <a:srgbClr val="22344A"/>
          </a:solidFill>
          <a:ln/>
        </p:spPr>
      </p:sp>
      <p:sp>
        <p:nvSpPr>
          <p:cNvPr id="26" name="Text 24"/>
          <p:cNvSpPr/>
          <p:nvPr/>
        </p:nvSpPr>
        <p:spPr>
          <a:xfrm>
            <a:off x="846734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89136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67344" y="2724912"/>
            <a:ext cx="73152" cy="73152"/>
          </a:xfrm>
          <a:prstGeom prst="ellipse">
            <a:avLst/>
          </a:prstGeom>
          <a:solidFill>
            <a:srgbClr val="8FB6E0"/>
          </a:solidFill>
          <a:ln/>
        </p:spPr>
      </p:sp>
      <p:sp>
        <p:nvSpPr>
          <p:cNvPr id="29" name="Text 27"/>
          <p:cNvSpPr/>
          <p:nvPr/>
        </p:nvSpPr>
        <p:spPr>
          <a:xfrm>
            <a:off x="8650224" y="257860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rules are data-driven — new devices/rooms are config, not code changes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67344" y="3803904"/>
            <a:ext cx="73152" cy="73152"/>
          </a:xfrm>
          <a:prstGeom prst="ellipse">
            <a:avLst/>
          </a:prstGeom>
          <a:solidFill>
            <a:srgbClr val="8FB6E0"/>
          </a:solidFill>
          <a:ln/>
        </p:spPr>
      </p:sp>
      <p:sp>
        <p:nvSpPr>
          <p:cNvPr id="31" name="Text 29"/>
          <p:cNvSpPr/>
          <p:nvPr/>
        </p:nvSpPr>
        <p:spPr>
          <a:xfrm>
            <a:off x="8650224" y="36576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core scales per-home with zero added cloud infrastructure cost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67344" y="4882896"/>
            <a:ext cx="73152" cy="73152"/>
          </a:xfrm>
          <a:prstGeom prst="ellipse">
            <a:avLst/>
          </a:prstGeom>
          <a:solidFill>
            <a:srgbClr val="8FB6E0"/>
          </a:solidFill>
          <a:ln/>
        </p:spPr>
      </p:sp>
      <p:sp>
        <p:nvSpPr>
          <p:cNvPr id="33" name="Text 31"/>
          <p:cNvSpPr/>
          <p:nvPr/>
        </p:nvSpPr>
        <p:spPr>
          <a:xfrm>
            <a:off x="8650224" y="473659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ASR/NLU backends (on-device ML models) without UI changes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a daily-driver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457200"/>
          </a:xfrm>
          <a:prstGeom prst="roundRect">
            <a:avLst>
              <a:gd name="adj" fmla="val 24000"/>
            </a:avLst>
          </a:prstGeom>
          <a:solidFill>
            <a:srgbClr val="B85A1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3520440" cy="228600"/>
          </a:xfrm>
          <a:prstGeom prst="rect">
            <a:avLst/>
          </a:prstGeom>
          <a:solidFill>
            <a:srgbClr val="B85A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Swap rule-based NLU for a small on-device intent-classification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557016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device integration via Matter / Zigbee2MQTT / MQTT bridge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718304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Multi-turn commands: “turn off the lights” → “in the bedroom too”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737360"/>
            <a:ext cx="3520440" cy="457200"/>
          </a:xfrm>
          <a:prstGeom prst="roundRect">
            <a:avLst>
              <a:gd name="adj" fmla="val 24000"/>
            </a:avLst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6552" y="1965960"/>
            <a:ext cx="352044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Wake-word detection for hands-free activation, fully on-device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557016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Per-user voice profiles processed and stored locally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4718304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Routine builder: chain multiple intents into one saved scene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3024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D7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737360"/>
            <a:ext cx="3520440" cy="457200"/>
          </a:xfrm>
          <a:prstGeom prst="roundRect">
            <a:avLst>
              <a:gd name="adj" fmla="val 24000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8193024" y="1965960"/>
            <a:ext cx="3520440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94192" y="2395728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Optional, end-to-end encrypted cross-device sync (strictly opt-in)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94192" y="3557016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Offline-first mobile companion app mirroring the same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94192" y="4718304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device-plugin format so any hardware vendor can integrate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1306</Words>
  <Application>Microsoft Office PowerPoint</Application>
  <PresentationFormat>Widescreen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soni twinkle</cp:lastModifiedBy>
  <cp:revision>2</cp:revision>
  <dcterms:created xsi:type="dcterms:W3CDTF">2026-08-08T04:07:22Z</dcterms:created>
  <dcterms:modified xsi:type="dcterms:W3CDTF">2026-08-08T04:16:09Z</dcterms:modified>
</cp:coreProperties>
</file>